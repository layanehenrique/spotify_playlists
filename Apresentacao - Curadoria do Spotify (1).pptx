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embeddedFontLst>
    <p:embeddedFont>
      <p:font typeface="Inter SemiBold"/>
      <p:regular r:id="rId20"/>
      <p:bold r:id="rId21"/>
      <p:italic r:id="rId22"/>
      <p:boldItalic r:id="rId23"/>
    </p:embeddedFont>
    <p:embeddedFont>
      <p:font typeface="Plus Jakarta Sans ExtraBold"/>
      <p:bold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Century Schoolbook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PlusJakartaSansExtraBold-bold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-regular.fntdata"/><Relationship Id="rId25" Type="http://schemas.openxmlformats.org/officeDocument/2006/relationships/font" Target="fonts/PlusJakartaSansExtraBold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Inter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CenturySchoolbook-bold.fntdata"/><Relationship Id="rId30" Type="http://schemas.openxmlformats.org/officeDocument/2006/relationships/font" Target="fonts/CenturySchoolbook-regular.fntdata"/><Relationship Id="rId11" Type="http://schemas.openxmlformats.org/officeDocument/2006/relationships/slide" Target="slides/slide7.xml"/><Relationship Id="rId33" Type="http://schemas.openxmlformats.org/officeDocument/2006/relationships/font" Target="fonts/CenturySchoolbook-boldItalic.fntdata"/><Relationship Id="rId10" Type="http://schemas.openxmlformats.org/officeDocument/2006/relationships/slide" Target="slides/slide6.xml"/><Relationship Id="rId32" Type="http://schemas.openxmlformats.org/officeDocument/2006/relationships/font" Target="fonts/CenturySchoolbook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9a088a1c6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f9a088a1c6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f9a088a1c6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6f2d2308b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f6f2d2308b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f6f2d2308b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6f2d2308b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f6f2d2308b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f6f2d2308b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6f2d2308b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f6f2d2308b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f6f2d2308b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6f2d2308b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6f2d2308b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f6f2d2308b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9a088a1c6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f9a088a1c6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f9a088a1c6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9a088a1c6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f9a088a1c6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f9a088a1c6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9a088a1c6_0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f9a088a1c6_0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f9a088a1c6_0_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7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746700" y="2650800"/>
            <a:ext cx="10698600" cy="15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entury Schoolbook"/>
              <a:buNone/>
            </a:pPr>
            <a:r>
              <a:rPr b="1" lang="en-US" sz="36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Existe uma correlação forte entre playlists e streams… mas isso prova que a </a:t>
            </a:r>
            <a:r>
              <a:rPr b="1" lang="en-US" sz="3600">
                <a:solidFill>
                  <a:srgbClr val="1DB95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curadoria </a:t>
            </a:r>
            <a:r>
              <a:rPr b="1" lang="en-US" sz="36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funciona?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1 / </a:t>
            </a:r>
            <a:r>
              <a:rPr lang="en-US" sz="1000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731520" y="502920"/>
            <a:ext cx="10698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Century Schoolbook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Uma decisão de orçamento não pode se apoiar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Century Schoolbook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só em casos de sucesso isolados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731520" y="1965960"/>
            <a:ext cx="10698480" cy="1234440"/>
          </a:xfrm>
          <a:prstGeom prst="roundRect">
            <a:avLst>
              <a:gd fmla="val 592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/>
          <p:nvPr/>
        </p:nvSpPr>
        <p:spPr>
          <a:xfrm>
            <a:off x="1005840" y="2286000"/>
            <a:ext cx="594360" cy="59436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1005840" y="228600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entury Schoolboo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1874520" y="2103120"/>
            <a:ext cx="9326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1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Alto investimento no time editorial </a:t>
            </a:r>
            <a:endParaRPr b="1" sz="18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1874520" y="2560320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mas os resultados de streams por playlist variam muito de um lançamento para outro.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731520" y="3429000"/>
            <a:ext cx="10698480" cy="1234440"/>
          </a:xfrm>
          <a:prstGeom prst="roundRect">
            <a:avLst>
              <a:gd fmla="val 592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1005840" y="3749040"/>
            <a:ext cx="594360" cy="59436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1005840" y="37490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entury Schoolboo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874520" y="3566160"/>
            <a:ext cx="9326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1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Alguns sucessos viram exemplo em apresentações da equipe</a:t>
            </a:r>
            <a:endParaRPr b="1" sz="18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1874520" y="4023360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mas ninguém conseguia responder, com dados, se é sorte, tendência de mercado, ou se a curadoria realmente gera esse retorno.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731520" y="4892040"/>
            <a:ext cx="10698480" cy="1234440"/>
          </a:xfrm>
          <a:prstGeom prst="roundRect">
            <a:avLst>
              <a:gd fmla="val 592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1005840" y="5212080"/>
            <a:ext cx="594360" cy="59436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1005840" y="52120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entury Schoolbook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1874520" y="5029200"/>
            <a:ext cx="9326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1"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Isso virou pauta da revisão de orçamento</a:t>
            </a:r>
            <a:endParaRPr b="1" sz="18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1874520" y="5486400"/>
            <a:ext cx="9326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diretoria pediu uma posição fundamentada em dados até o fim do mês, para embasar a decisão do próximo trimestre.</a:t>
            </a:r>
            <a:endParaRPr sz="15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2/15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7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731520" y="502920"/>
            <a:ext cx="10698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Schoolboo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Testamos a curadoria de 6 ângulos diferentes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731520" y="2103120"/>
            <a:ext cx="1592580" cy="1463040"/>
          </a:xfrm>
          <a:prstGeom prst="roundRect">
            <a:avLst>
              <a:gd fmla="val 5000" name="adj"/>
            </a:avLst>
          </a:prstGeom>
          <a:solidFill>
            <a:srgbClr val="1E2227"/>
          </a:solidFill>
          <a:ln cap="flat" cmpd="sng" w="1270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731520" y="2103120"/>
            <a:ext cx="15925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Playlist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2552700" y="2103120"/>
            <a:ext cx="1592580" cy="1463040"/>
          </a:xfrm>
          <a:prstGeom prst="roundRect">
            <a:avLst>
              <a:gd fmla="val 5000" name="adj"/>
            </a:avLst>
          </a:prstGeom>
          <a:solidFill>
            <a:srgbClr val="1E2227"/>
          </a:solidFill>
          <a:ln cap="flat" cmpd="sng" w="1270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2552700" y="2103120"/>
            <a:ext cx="15925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Chart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4373880" y="2103120"/>
            <a:ext cx="1592580" cy="1463040"/>
          </a:xfrm>
          <a:prstGeom prst="roundRect">
            <a:avLst>
              <a:gd fmla="val 5000" name="adj"/>
            </a:avLst>
          </a:prstGeom>
          <a:solidFill>
            <a:srgbClr val="1E2227"/>
          </a:solidFill>
          <a:ln cap="flat" cmpd="sng" w="1270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4373880" y="2103120"/>
            <a:ext cx="15925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Multi-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plataforma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6195060" y="2103120"/>
            <a:ext cx="1592580" cy="1463040"/>
          </a:xfrm>
          <a:prstGeom prst="roundRect">
            <a:avLst>
              <a:gd fmla="val 5000" name="adj"/>
            </a:avLst>
          </a:prstGeom>
          <a:solidFill>
            <a:srgbClr val="1E2227"/>
          </a:solidFill>
          <a:ln cap="flat" cmpd="sng" w="1270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6195060" y="2103120"/>
            <a:ext cx="15925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Gênero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8016240" y="2103120"/>
            <a:ext cx="1592580" cy="1463040"/>
          </a:xfrm>
          <a:prstGeom prst="roundRect">
            <a:avLst>
              <a:gd fmla="val 5000" name="adj"/>
            </a:avLst>
          </a:prstGeom>
          <a:solidFill>
            <a:srgbClr val="1E2227"/>
          </a:solidFill>
          <a:ln cap="flat" cmpd="sng" w="1270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8016240" y="2103120"/>
            <a:ext cx="15925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País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9837420" y="2103120"/>
            <a:ext cx="1592580" cy="1463040"/>
          </a:xfrm>
          <a:prstGeom prst="roundRect">
            <a:avLst>
              <a:gd fmla="val 5000" name="adj"/>
            </a:avLst>
          </a:prstGeom>
          <a:solidFill>
            <a:srgbClr val="1E2227"/>
          </a:solidFill>
          <a:ln cap="flat" cmpd="sng" w="12700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9837420" y="2103120"/>
            <a:ext cx="15925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Época 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lançamento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731525" y="3931923"/>
            <a:ext cx="10698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Investigamos </a:t>
            </a: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“playlist aumenta streams” e testamos: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B3B3B3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chart, presença em múltiplas plataformas</a:t>
            </a:r>
            <a:r>
              <a:rPr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tentamos</a:t>
            </a:r>
            <a:r>
              <a:rPr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encontrar padrões de </a:t>
            </a:r>
            <a:r>
              <a:rPr b="0" i="0" lang="en-US" sz="15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gênero, país e época de lançamento nas músicas de sucesso.</a:t>
            </a:r>
            <a:endParaRPr b="0" i="0" sz="1500" u="none" cap="none" strike="noStrike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3/15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807720" y="1310640"/>
            <a:ext cx="1069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Quase 1.000 músicas do catálogo, cruzando Spotify e mais 3 plataformas (Apple, Deezer</a:t>
            </a:r>
            <a:r>
              <a:rPr lang="en-US" sz="1500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 e Shazam).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7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/>
          <p:nvPr/>
        </p:nvSpPr>
        <p:spPr>
          <a:xfrm>
            <a:off x="746700" y="2088625"/>
            <a:ext cx="10698600" cy="241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Schoolbook"/>
              <a:buNone/>
            </a:pPr>
            <a:r>
              <a:rPr b="1" lang="en-US" sz="30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Para entender o impacto prático dessa relação, vamos olhar para a diferença de </a:t>
            </a:r>
            <a:r>
              <a:rPr b="1" lang="en-US" sz="3000">
                <a:solidFill>
                  <a:schemeClr val="accent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volume de reproduções</a:t>
            </a:r>
            <a:r>
              <a:rPr b="1" lang="en-US" sz="30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entre as músicas que </a:t>
            </a:r>
            <a:r>
              <a:rPr b="1" lang="en-US" sz="3000">
                <a:solidFill>
                  <a:schemeClr val="accent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entram </a:t>
            </a:r>
            <a:r>
              <a:rPr b="1" lang="en-US" sz="30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 as que </a:t>
            </a:r>
            <a:r>
              <a:rPr b="1" lang="en-US" sz="3000">
                <a:solidFill>
                  <a:schemeClr val="accent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ficam fora</a:t>
            </a:r>
            <a:r>
              <a:rPr b="1" lang="en-US" sz="30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das playlists.</a:t>
            </a:r>
            <a:endParaRPr i="0" sz="3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11430000" y="653796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4/15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457200" y="653796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/>
          <p:nvPr/>
        </p:nvSpPr>
        <p:spPr>
          <a:xfrm>
            <a:off x="731520" y="533400"/>
            <a:ext cx="10698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Century Schoolbook"/>
              <a:buNone/>
            </a:pPr>
            <a:r>
              <a:rPr b="1" lang="en-US" sz="30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Mais playlists multiplicam o volume de streams</a:t>
            </a:r>
            <a:endParaRPr b="1" sz="3000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11430000" y="653796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5/15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457200" y="653796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8" title="Projeto Spotify - Ativa_Dados_Gráfico de dispersã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4925" y="3376375"/>
            <a:ext cx="5111801" cy="3345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1526381"/>
            <a:ext cx="3575000" cy="160377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8"/>
          <p:cNvSpPr txBox="1"/>
          <p:nvPr/>
        </p:nvSpPr>
        <p:spPr>
          <a:xfrm>
            <a:off x="819150" y="1764506"/>
            <a:ext cx="302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Poucas Playlists</a:t>
            </a:r>
            <a:endParaRPr/>
          </a:p>
        </p:txBody>
      </p:sp>
      <p:sp>
        <p:nvSpPr>
          <p:cNvPr id="87" name="Google Shape;87;p8"/>
          <p:cNvSpPr txBox="1"/>
          <p:nvPr/>
        </p:nvSpPr>
        <p:spPr>
          <a:xfrm>
            <a:off x="819150" y="2088356"/>
            <a:ext cx="3022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199 Mi</a:t>
            </a:r>
            <a:endParaRPr/>
          </a:p>
        </p:txBody>
      </p:sp>
      <p:sp>
        <p:nvSpPr>
          <p:cNvPr id="88" name="Google Shape;88;p8"/>
          <p:cNvSpPr txBox="1"/>
          <p:nvPr/>
        </p:nvSpPr>
        <p:spPr>
          <a:xfrm>
            <a:off x="819150" y="2621756"/>
            <a:ext cx="3022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Valor central (mediana).</a:t>
            </a:r>
            <a:endParaRPr/>
          </a:p>
        </p:txBody>
      </p:sp>
      <p:pic>
        <p:nvPicPr>
          <p:cNvPr descr="image.png" id="89" name="Google Shape;8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84450" y="1764506"/>
            <a:ext cx="8572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08425" y="1526381"/>
            <a:ext cx="3575000" cy="16037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73925" y="1526381"/>
            <a:ext cx="3575149" cy="160377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8"/>
          <p:cNvSpPr txBox="1"/>
          <p:nvPr/>
        </p:nvSpPr>
        <p:spPr>
          <a:xfrm>
            <a:off x="4584650" y="1764506"/>
            <a:ext cx="302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Médias Playlists</a:t>
            </a:r>
            <a:endParaRPr/>
          </a:p>
        </p:txBody>
      </p:sp>
      <p:sp>
        <p:nvSpPr>
          <p:cNvPr id="93" name="Google Shape;93;p8"/>
          <p:cNvSpPr txBox="1"/>
          <p:nvPr/>
        </p:nvSpPr>
        <p:spPr>
          <a:xfrm>
            <a:off x="4584650" y="2088356"/>
            <a:ext cx="3022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830 Mi</a:t>
            </a:r>
            <a:endParaRPr/>
          </a:p>
        </p:txBody>
      </p:sp>
      <p:sp>
        <p:nvSpPr>
          <p:cNvPr id="94" name="Google Shape;94;p8"/>
          <p:cNvSpPr txBox="1"/>
          <p:nvPr/>
        </p:nvSpPr>
        <p:spPr>
          <a:xfrm>
            <a:off x="4584650" y="2621756"/>
            <a:ext cx="3022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9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Valor central (mediana)</a:t>
            </a:r>
            <a:endParaRPr/>
          </a:p>
        </p:txBody>
      </p:sp>
      <p:sp>
        <p:nvSpPr>
          <p:cNvPr id="95" name="Google Shape;95;p8"/>
          <p:cNvSpPr txBox="1"/>
          <p:nvPr/>
        </p:nvSpPr>
        <p:spPr>
          <a:xfrm>
            <a:off x="8350150" y="1764506"/>
            <a:ext cx="302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7F3D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Muitas Playlists</a:t>
            </a:r>
            <a:endParaRPr/>
          </a:p>
        </p:txBody>
      </p:sp>
      <p:sp>
        <p:nvSpPr>
          <p:cNvPr id="96" name="Google Shape;96;p8"/>
          <p:cNvSpPr txBox="1"/>
          <p:nvPr/>
        </p:nvSpPr>
        <p:spPr>
          <a:xfrm>
            <a:off x="8350150" y="2088356"/>
            <a:ext cx="3022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1,69 Bi</a:t>
            </a:r>
            <a:endParaRPr/>
          </a:p>
        </p:txBody>
      </p:sp>
      <p:sp>
        <p:nvSpPr>
          <p:cNvPr id="97" name="Google Shape;97;p8"/>
          <p:cNvSpPr txBox="1"/>
          <p:nvPr/>
        </p:nvSpPr>
        <p:spPr>
          <a:xfrm>
            <a:off x="8350150" y="2621756"/>
            <a:ext cx="30228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975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Valor central (mediana)</a:t>
            </a:r>
            <a:endParaRPr/>
          </a:p>
        </p:txBody>
      </p:sp>
      <p:pic>
        <p:nvPicPr>
          <p:cNvPr descr="image.png" id="98" name="Google Shape;98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49950" y="1764506"/>
            <a:ext cx="8572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306050" y="1764506"/>
            <a:ext cx="1066800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7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/>
          <p:nvPr/>
        </p:nvSpPr>
        <p:spPr>
          <a:xfrm>
            <a:off x="731520" y="457200"/>
            <a:ext cx="10698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Nem tudo que “bomba” depende da curadoria</a:t>
            </a:r>
            <a:endParaRPr i="0" sz="3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731525" y="1726799"/>
            <a:ext cx="3322200" cy="3805200"/>
          </a:xfrm>
          <a:prstGeom prst="roundRect">
            <a:avLst>
              <a:gd fmla="val 2202" name="adj"/>
            </a:avLst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"/>
          <p:cNvSpPr/>
          <p:nvPr/>
        </p:nvSpPr>
        <p:spPr>
          <a:xfrm>
            <a:off x="1051550" y="1798322"/>
            <a:ext cx="2682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600"/>
              <a:buFont typeface="Calibri"/>
              <a:buNone/>
            </a:pPr>
            <a:r>
              <a:rPr b="1" i="0" lang="en-US" sz="20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Playlist ≠ chart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9"/>
          <p:cNvSpPr/>
          <p:nvPr/>
        </p:nvSpPr>
        <p:spPr>
          <a:xfrm>
            <a:off x="11430000" y="653796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6/15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457200" y="653796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9" title="Projeto Spotify - Ativa_Dados_Gráfico de barra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245" y="2331735"/>
            <a:ext cx="4943475" cy="32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9"/>
          <p:cNvSpPr/>
          <p:nvPr/>
        </p:nvSpPr>
        <p:spPr>
          <a:xfrm>
            <a:off x="6027038" y="1653538"/>
            <a:ext cx="5079900" cy="533400"/>
          </a:xfrm>
          <a:prstGeom prst="rect">
            <a:avLst/>
          </a:prstGeom>
          <a:solidFill>
            <a:srgbClr val="1DB954"/>
          </a:solidFill>
          <a:ln cap="flat" cmpd="sng" w="9525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Entrar no chart quase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dobra 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 streams (+77,84%)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>
            <a:off x="1051550" y="2180900"/>
            <a:ext cx="2682300" cy="3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300"/>
              <a:buFont typeface="Calibri"/>
              <a:buNone/>
            </a:pPr>
            <a:r>
              <a:rPr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ntrar em chart, influencia positivamente no número de streams. E, e</a:t>
            </a:r>
            <a:r>
              <a:rPr b="0" i="0" lang="en-US" sz="15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star em mais playlists não garante entrar em chart</a:t>
            </a:r>
            <a:r>
              <a:rPr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15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300"/>
              <a:buFont typeface="Calibri"/>
              <a:buNone/>
            </a:pPr>
            <a:r>
              <a:t/>
            </a:r>
            <a:endParaRPr sz="15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300"/>
              <a:buFont typeface="Calibri"/>
              <a:buNone/>
            </a:pPr>
            <a:r>
              <a:rPr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5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ão sinais de sucesso diferentes, que nem sempre andam juntos. Outros fatores, como velocidade de crescimento ou picos de audição, podem pesar mais para o chart do que a curadoria em si.</a:t>
            </a:r>
            <a:endParaRPr sz="15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7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"/>
          <p:cNvSpPr/>
          <p:nvPr/>
        </p:nvSpPr>
        <p:spPr>
          <a:xfrm>
            <a:off x="731520" y="457200"/>
            <a:ext cx="10698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Nem tudo que “bomba” depende da curadoria</a:t>
            </a:r>
            <a:endParaRPr i="0" sz="3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731520" y="1965960"/>
            <a:ext cx="3322200" cy="3566100"/>
          </a:xfrm>
          <a:prstGeom prst="roundRect">
            <a:avLst>
              <a:gd fmla="val 2202" name="adj"/>
            </a:avLst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0"/>
          <p:cNvSpPr/>
          <p:nvPr/>
        </p:nvSpPr>
        <p:spPr>
          <a:xfrm>
            <a:off x="11430000" y="653796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7/15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457200" y="653796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1082050" y="2103124"/>
            <a:ext cx="2682300" cy="8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600"/>
              <a:buFont typeface="Calibri"/>
              <a:buNone/>
            </a:pPr>
            <a:r>
              <a:rPr b="1" lang="en-US" sz="2000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Há s</a:t>
            </a:r>
            <a:r>
              <a:rPr b="1" i="0" lang="en-US" sz="20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ucessos sem “selo” de chart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0" title="Projeto Spotify - Ativa_Dados_Gráfico de barras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3620" y="2585085"/>
            <a:ext cx="5372100" cy="2809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0"/>
          <p:cNvSpPr/>
          <p:nvPr/>
        </p:nvSpPr>
        <p:spPr>
          <a:xfrm>
            <a:off x="6027038" y="1653538"/>
            <a:ext cx="5079900" cy="533400"/>
          </a:xfrm>
          <a:prstGeom prst="rect">
            <a:avLst/>
          </a:prstGeom>
          <a:solidFill>
            <a:srgbClr val="1DB954"/>
          </a:solidFill>
          <a:ln cap="flat" cmpd="sng" w="9525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Chart é  um acelerador, mas não é pré-requisito para sucesso (+ streams)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1082050" y="2880346"/>
            <a:ext cx="2682300" cy="26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300"/>
              <a:buFont typeface="Calibri"/>
              <a:buNone/>
            </a:pPr>
            <a:r>
              <a:rPr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uanto mais plataformas colocam a música em chart, maior a média de streams.</a:t>
            </a:r>
            <a:endParaRPr sz="15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300"/>
              <a:buFont typeface="Calibri"/>
              <a:buNone/>
            </a:pPr>
            <a:r>
              <a:t/>
            </a:r>
            <a:endParaRPr sz="15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300"/>
              <a:buFont typeface="Calibri"/>
              <a:buNone/>
            </a:pPr>
            <a:r>
              <a:rPr b="1"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1"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xceção</a:t>
            </a:r>
            <a:r>
              <a:rPr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: 46 músicas nunca entraram em nenhum chart e mesmo assim romperam a marca de 100 milhões de streams.</a:t>
            </a:r>
            <a:endParaRPr sz="15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7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/>
          <p:nvPr/>
        </p:nvSpPr>
        <p:spPr>
          <a:xfrm>
            <a:off x="731520" y="457200"/>
            <a:ext cx="10698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Nem tudo que “bomba” depende da curadoria</a:t>
            </a:r>
            <a:endParaRPr i="0" sz="3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2" name="Google Shape;132;p11"/>
          <p:cNvSpPr/>
          <p:nvPr/>
        </p:nvSpPr>
        <p:spPr>
          <a:xfrm>
            <a:off x="731520" y="1965960"/>
            <a:ext cx="3322200" cy="3566100"/>
          </a:xfrm>
          <a:prstGeom prst="roundRect">
            <a:avLst>
              <a:gd fmla="val 2202" name="adj"/>
            </a:avLst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1"/>
          <p:cNvSpPr/>
          <p:nvPr/>
        </p:nvSpPr>
        <p:spPr>
          <a:xfrm>
            <a:off x="11430000" y="653796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8/15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1"/>
          <p:cNvSpPr/>
          <p:nvPr/>
        </p:nvSpPr>
        <p:spPr>
          <a:xfrm>
            <a:off x="457200" y="653796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1"/>
          <p:cNvSpPr/>
          <p:nvPr/>
        </p:nvSpPr>
        <p:spPr>
          <a:xfrm>
            <a:off x="1112520" y="2331720"/>
            <a:ext cx="26823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600"/>
              <a:buFont typeface="Calibri"/>
              <a:buNone/>
            </a:pPr>
            <a:r>
              <a:rPr b="1" i="0" lang="en-US" sz="20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Gênero e país pesam mais do que o esperado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1"/>
          <p:cNvSpPr/>
          <p:nvPr/>
        </p:nvSpPr>
        <p:spPr>
          <a:xfrm>
            <a:off x="6027050" y="2034553"/>
            <a:ext cx="5079900" cy="640200"/>
          </a:xfrm>
          <a:prstGeom prst="rect">
            <a:avLst/>
          </a:prstGeom>
          <a:solidFill>
            <a:srgbClr val="1DB954"/>
          </a:solidFill>
          <a:ln cap="flat" cmpd="sng" w="9525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Este pode ser o </a:t>
            </a: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sinal de previsibilidade</a:t>
            </a: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que o time editorial precisa!</a:t>
            </a:r>
            <a:endParaRPr b="1"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6027050" y="3124100"/>
            <a:ext cx="2358000" cy="1170900"/>
          </a:xfrm>
          <a:prstGeom prst="rect">
            <a:avLst/>
          </a:prstGeom>
          <a:solidFill>
            <a:srgbClr val="1DB954"/>
          </a:solidFill>
          <a:ln cap="flat" cmpd="sng" w="9525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Pop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reggaeton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R&amp;B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K-pop 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dominam playlists e charts.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8748950" y="3124100"/>
            <a:ext cx="2358000" cy="1170900"/>
          </a:xfrm>
          <a:prstGeom prst="rect">
            <a:avLst/>
          </a:prstGeom>
          <a:solidFill>
            <a:srgbClr val="1DB954"/>
          </a:solidFill>
          <a:ln cap="flat" cmpd="sng" w="9525">
            <a:solidFill>
              <a:srgbClr val="1DB9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EUA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Reino Unido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Coreia do Sul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Porto Rico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Colômbia 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lideram charts.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1112520" y="3413760"/>
            <a:ext cx="26823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300"/>
              <a:buFont typeface="Calibri"/>
              <a:buNone/>
            </a:pPr>
            <a:r>
              <a:rPr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 grande padrão do nosso sucesso. </a:t>
            </a:r>
            <a:endParaRPr sz="15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300"/>
              <a:buFont typeface="Calibri"/>
              <a:buNone/>
            </a:pPr>
            <a:r>
              <a:t/>
            </a:r>
            <a:endParaRPr sz="15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300"/>
              <a:buFont typeface="Calibri"/>
              <a:buNone/>
            </a:pPr>
            <a:r>
              <a:rPr b="0" i="0" lang="en-US" sz="15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Isso parece refletir hábito de consumo (onde a música é tocada no dia a dia).</a:t>
            </a:r>
            <a:endParaRPr b="0" i="0" sz="1500" u="none" cap="none" strike="noStrike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Century Schoolbook"/>
              <a:buNone/>
            </a:pPr>
            <a:r>
              <a:rPr b="1" lang="en-US" sz="3000">
                <a:solidFill>
                  <a:srgbClr val="1A1A1A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</a:t>
            </a:r>
            <a:r>
              <a:rPr b="1" lang="en-US" sz="3000">
                <a:solidFill>
                  <a:srgbClr val="1A1A1A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is playlists multiplicam o volume de streams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2"/>
          <p:cNvSpPr/>
          <p:nvPr/>
        </p:nvSpPr>
        <p:spPr>
          <a:xfrm>
            <a:off x="731520" y="1051560"/>
            <a:ext cx="1069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600"/>
              <a:buFont typeface="Calibri"/>
              <a:buNone/>
            </a:pPr>
            <a:r>
              <a:rPr lang="en-US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mas não dá para provar que a curadoria é a causa.</a:t>
            </a:r>
            <a:endParaRPr b="0" i="0" sz="18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2"/>
          <p:cNvSpPr/>
          <p:nvPr/>
        </p:nvSpPr>
        <p:spPr>
          <a:xfrm>
            <a:off x="731520" y="1828800"/>
            <a:ext cx="3749040" cy="4023360"/>
          </a:xfrm>
          <a:prstGeom prst="roundRect">
            <a:avLst>
              <a:gd fmla="val 2439" name="adj"/>
            </a:avLst>
          </a:prstGeom>
          <a:solidFill>
            <a:srgbClr val="1DB9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"/>
          <p:cNvSpPr/>
          <p:nvPr/>
        </p:nvSpPr>
        <p:spPr>
          <a:xfrm>
            <a:off x="731520" y="2286000"/>
            <a:ext cx="3749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entury Schoolbook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8x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2"/>
          <p:cNvSpPr/>
          <p:nvPr/>
        </p:nvSpPr>
        <p:spPr>
          <a:xfrm>
            <a:off x="1097280" y="3749040"/>
            <a:ext cx="3017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mais streams entre 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faixa de 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mais </a:t>
            </a: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a 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menos </a:t>
            </a: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playlists.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12"/>
          <p:cNvCxnSpPr/>
          <p:nvPr/>
        </p:nvCxnSpPr>
        <p:spPr>
          <a:xfrm>
            <a:off x="1280160" y="4846320"/>
            <a:ext cx="2651760" cy="0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12"/>
          <p:cNvSpPr/>
          <p:nvPr/>
        </p:nvSpPr>
        <p:spPr>
          <a:xfrm>
            <a:off x="914400" y="498348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1,69 bi</a:t>
            </a: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→ 830 mi → </a:t>
            </a: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199 mi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streams (mediana).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4754880" y="1828800"/>
            <a:ext cx="6675120" cy="1828800"/>
          </a:xfrm>
          <a:prstGeom prst="roundRect">
            <a:avLst>
              <a:gd fmla="val 4000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"/>
          <p:cNvSpPr/>
          <p:nvPr/>
        </p:nvSpPr>
        <p:spPr>
          <a:xfrm>
            <a:off x="5029200" y="201168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 padrão se repete na maioria das músicas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5029200" y="2514600"/>
            <a:ext cx="6126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relação entre playlist e streams se mantém consistente entre a maioria das faixas do catálogo.</a:t>
            </a:r>
            <a:endParaRPr b="0" i="0" sz="15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2"/>
          <p:cNvSpPr/>
          <p:nvPr/>
        </p:nvSpPr>
        <p:spPr>
          <a:xfrm>
            <a:off x="4754880" y="3840480"/>
            <a:ext cx="6675120" cy="2011680"/>
          </a:xfrm>
          <a:prstGeom prst="roundRect">
            <a:avLst>
              <a:gd fmla="val 3636" name="adj"/>
            </a:avLst>
          </a:prstGeom>
          <a:solidFill>
            <a:srgbClr val="FDF1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2"/>
          <p:cNvSpPr/>
          <p:nvPr/>
        </p:nvSpPr>
        <p:spPr>
          <a:xfrm>
            <a:off x="5029200" y="4023360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543E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E8543E"/>
                </a:solidFill>
                <a:latin typeface="Calibri"/>
                <a:ea typeface="Calibri"/>
                <a:cs typeface="Calibri"/>
                <a:sym typeface="Calibri"/>
              </a:rPr>
              <a:t>Mas não é uma garantia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5029200" y="4480560"/>
            <a:ext cx="6126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partir de um certo ponto, outros fatores passam a decidir o quão longe a música vai.</a:t>
            </a:r>
            <a:endParaRPr b="0" i="0" sz="15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5029200" y="5074920"/>
            <a:ext cx="6126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None/>
            </a:pPr>
            <a:r>
              <a:rPr b="1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 que ainda não sabemos: </a:t>
            </a: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 é a curadoria que gera o sucesso, ou se colocamos músicas de sucesso em playlist porque elas já vinham indo bem.</a:t>
            </a:r>
            <a:endParaRPr b="0" i="0" sz="15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9/15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7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/>
          <p:nvPr/>
        </p:nvSpPr>
        <p:spPr>
          <a:xfrm>
            <a:off x="746700" y="2302125"/>
            <a:ext cx="10698600" cy="20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Schoolbook"/>
              <a:buNone/>
            </a:pPr>
            <a:r>
              <a:rPr b="1" lang="en-US" sz="30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Como usar essas descobertas para defender o </a:t>
            </a:r>
            <a:r>
              <a:rPr b="1" lang="en-US" sz="3000">
                <a:solidFill>
                  <a:schemeClr val="accent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orçamento do time editorial </a:t>
            </a:r>
            <a:r>
              <a:rPr b="1" lang="en-US" sz="30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 decidir os próximos passos?</a:t>
            </a:r>
            <a:endParaRPr i="0" sz="3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11430000" y="653796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10/15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457200" y="653796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7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Recomendamos </a:t>
            </a:r>
            <a:r>
              <a:rPr b="1" i="0" lang="en-US" sz="3000" u="none" cap="none" strike="noStrike">
                <a:solidFill>
                  <a:srgbClr val="1DB95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manter </a:t>
            </a: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 investimento</a:t>
            </a:r>
            <a:endParaRPr i="0" sz="3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75" name="Google Shape;175;p14"/>
          <p:cNvSpPr/>
          <p:nvPr/>
        </p:nvSpPr>
        <p:spPr>
          <a:xfrm>
            <a:off x="731520" y="123444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2000"/>
              <a:buFont typeface="Century Schoolbook"/>
              <a:buNone/>
            </a:pPr>
            <a:r>
              <a:rPr i="1" lang="en-US" sz="1800" u="none" cap="none" strike="noStrike">
                <a:solidFill>
                  <a:srgbClr val="1DB95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 resolver a</a:t>
            </a:r>
            <a:r>
              <a:rPr i="1" lang="en-US" sz="1800">
                <a:solidFill>
                  <a:srgbClr val="1DB95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 </a:t>
            </a:r>
            <a:r>
              <a:rPr i="1" lang="en-US" sz="1800" u="none" cap="none" strike="noStrike">
                <a:solidFill>
                  <a:srgbClr val="1DB95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lacunas que impedem medir o retorno sobre o investiment</a:t>
            </a:r>
            <a:r>
              <a:rPr i="1" lang="en-US" sz="1800">
                <a:solidFill>
                  <a:srgbClr val="1DB95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o.</a:t>
            </a:r>
            <a:endParaRPr i="0" sz="18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76" name="Google Shape;176;p14"/>
          <p:cNvSpPr/>
          <p:nvPr/>
        </p:nvSpPr>
        <p:spPr>
          <a:xfrm>
            <a:off x="731520" y="2103120"/>
            <a:ext cx="10698480" cy="1188720"/>
          </a:xfrm>
          <a:prstGeom prst="roundRect">
            <a:avLst>
              <a:gd fmla="val 6154" name="adj"/>
            </a:avLst>
          </a:prstGeom>
          <a:solidFill>
            <a:srgbClr val="1A2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"/>
          <p:cNvSpPr/>
          <p:nvPr/>
        </p:nvSpPr>
        <p:spPr>
          <a:xfrm>
            <a:off x="1005840" y="2103120"/>
            <a:ext cx="10149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Os dados de hoje sustentam continuar investindo em curadoria: </a:t>
            </a:r>
            <a:r>
              <a:rPr b="0" i="0" lang="en-US" sz="1800" u="none" cap="none" strike="noStrike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a associação com sucesso é forte e consistente em várias dimensões.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731520" y="3520440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400"/>
              <a:buFont typeface="Calibri"/>
              <a:buNone/>
            </a:pPr>
            <a:r>
              <a:rPr b="0" i="1" lang="en-US" sz="15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Mas ainda não temos como medir o ROI com precisão</a:t>
            </a:r>
            <a:r>
              <a:rPr i="1" lang="en-US" sz="15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, pois</a:t>
            </a:r>
            <a:r>
              <a:rPr b="0" i="1" lang="en-US" sz="1500" u="none" cap="none" strike="noStrike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 falta saber “quando” a curadoria aconteceu em relação ao sucesso da música.</a:t>
            </a:r>
            <a:endParaRPr b="0" i="0" sz="1500" u="none" cap="none" strike="noStrike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500"/>
              <a:buFont typeface="Calibri"/>
              <a:buNone/>
            </a:pPr>
            <a:r>
              <a:rPr b="1" i="0" lang="en-US" sz="2000" u="none" cap="none" strike="noStrike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Proposta: 3 dados novos para a próxima fase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731520" y="4846320"/>
            <a:ext cx="3322320" cy="1417320"/>
          </a:xfrm>
          <a:prstGeom prst="roundRect">
            <a:avLst>
              <a:gd fmla="val 5161" name="adj"/>
            </a:avLst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4"/>
          <p:cNvSpPr/>
          <p:nvPr/>
        </p:nvSpPr>
        <p:spPr>
          <a:xfrm>
            <a:off x="2118360" y="5029200"/>
            <a:ext cx="548640" cy="54864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4"/>
          <p:cNvSpPr/>
          <p:nvPr/>
        </p:nvSpPr>
        <p:spPr>
          <a:xfrm>
            <a:off x="2118360" y="5029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800"/>
              <a:buFont typeface="Century Schoolbook"/>
              <a:buNone/>
            </a:pPr>
            <a:r>
              <a:rPr b="1" i="0" lang="en-US" sz="1800" u="none" cap="none" strike="noStrike">
                <a:solidFill>
                  <a:srgbClr val="121417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868680" y="5623560"/>
            <a:ext cx="304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Histórico de streams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ao longo do tempo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4419600" y="4846320"/>
            <a:ext cx="3322320" cy="1417320"/>
          </a:xfrm>
          <a:prstGeom prst="roundRect">
            <a:avLst>
              <a:gd fmla="val 5161" name="adj"/>
            </a:avLst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4"/>
          <p:cNvSpPr/>
          <p:nvPr/>
        </p:nvSpPr>
        <p:spPr>
          <a:xfrm>
            <a:off x="5806440" y="5029200"/>
            <a:ext cx="548640" cy="54864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4"/>
          <p:cNvSpPr/>
          <p:nvPr/>
        </p:nvSpPr>
        <p:spPr>
          <a:xfrm>
            <a:off x="5806440" y="5029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800"/>
              <a:buFont typeface="Century Schoolbook"/>
              <a:buNone/>
            </a:pPr>
            <a:r>
              <a:rPr b="1" i="0" lang="en-US" sz="1800" u="none" cap="none" strike="noStrike">
                <a:solidFill>
                  <a:srgbClr val="121417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4556760" y="5623560"/>
            <a:ext cx="304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de entrada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 playlist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8107680" y="4846320"/>
            <a:ext cx="3322320" cy="1417320"/>
          </a:xfrm>
          <a:prstGeom prst="roundRect">
            <a:avLst>
              <a:gd fmla="val 5161" name="adj"/>
            </a:avLst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4"/>
          <p:cNvSpPr/>
          <p:nvPr/>
        </p:nvSpPr>
        <p:spPr>
          <a:xfrm>
            <a:off x="9494520" y="5029200"/>
            <a:ext cx="548640" cy="548640"/>
          </a:xfrm>
          <a:prstGeom prst="ellipse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4"/>
          <p:cNvSpPr/>
          <p:nvPr/>
        </p:nvSpPr>
        <p:spPr>
          <a:xfrm>
            <a:off x="9494520" y="5029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800"/>
              <a:buFont typeface="Century Schoolbook"/>
              <a:buNone/>
            </a:pPr>
            <a:r>
              <a:rPr b="1" i="0" lang="en-US" sz="1800" u="none" cap="none" strike="noStrike">
                <a:solidFill>
                  <a:srgbClr val="121417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4"/>
          <p:cNvSpPr/>
          <p:nvPr/>
        </p:nvSpPr>
        <p:spPr>
          <a:xfrm>
            <a:off x="8244840" y="5623560"/>
            <a:ext cx="304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Picos sazonais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</a:t>
            </a: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11/15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7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"/>
          <p:cNvSpPr/>
          <p:nvPr/>
        </p:nvSpPr>
        <p:spPr>
          <a:xfrm>
            <a:off x="746695" y="2788945"/>
            <a:ext cx="10698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Próximo passo: </a:t>
            </a:r>
            <a:r>
              <a:rPr b="1" lang="en-US" sz="30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alinhar com </a:t>
            </a:r>
            <a:r>
              <a:rPr b="1" lang="en-US" sz="3000">
                <a:solidFill>
                  <a:schemeClr val="accent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Data Engineering</a:t>
            </a:r>
            <a:r>
              <a:rPr b="1" lang="en-US" sz="30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nas próximas semanas para avaliar a viabilidade dessa coleta.</a:t>
            </a:r>
            <a:endParaRPr b="1" sz="3000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00" name="Google Shape;200;p15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12/15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7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/>
          <p:nvPr/>
        </p:nvSpPr>
        <p:spPr>
          <a:xfrm>
            <a:off x="731520" y="548640"/>
            <a:ext cx="10698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Schoolbook"/>
              <a:buNone/>
            </a:pPr>
            <a:r>
              <a:rPr b="1" lang="en-US" sz="3000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Bônus</a:t>
            </a:r>
            <a:endParaRPr b="1" sz="3000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731520" y="1234440"/>
            <a:ext cx="1069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2000"/>
              <a:buFont typeface="Century Schoolbook"/>
              <a:buNone/>
            </a:pPr>
            <a:r>
              <a:rPr i="1" lang="en-US" sz="1800">
                <a:solidFill>
                  <a:srgbClr val="1DB95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Para ter previsibilidade, precisamos entender o padrão de consumo</a:t>
            </a:r>
            <a:endParaRPr i="0" sz="18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09" name="Google Shape;209;p16"/>
          <p:cNvSpPr/>
          <p:nvPr/>
        </p:nvSpPr>
        <p:spPr>
          <a:xfrm>
            <a:off x="731525" y="1967237"/>
            <a:ext cx="10698600" cy="1767900"/>
          </a:xfrm>
          <a:prstGeom prst="roundRect">
            <a:avLst>
              <a:gd fmla="val 6154" name="adj"/>
            </a:avLst>
          </a:prstGeom>
          <a:solidFill>
            <a:srgbClr val="1A2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6"/>
          <p:cNvSpPr/>
          <p:nvPr/>
        </p:nvSpPr>
        <p:spPr>
          <a:xfrm>
            <a:off x="1005850" y="2103125"/>
            <a:ext cx="10149900" cy="14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Gênero 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país 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concentram-se nos mesmos mercados culturais dominantes, sendo mais reflexo de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comportamento de consumo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do que alavanca editorial isolada.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Entretanto, estes gêneros (mais comerciais) costumam ser reproduzidos em ambientes coletivos diversos (não só consumo individual) e, por estar em playlist, pode aumentar o número de streams. O que é interessante para estratégia de curadoria.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6"/>
          <p:cNvSpPr/>
          <p:nvPr/>
        </p:nvSpPr>
        <p:spPr>
          <a:xfrm>
            <a:off x="731520" y="3916680"/>
            <a:ext cx="1069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B954"/>
              </a:buClr>
              <a:buSzPts val="1500"/>
              <a:buFont typeface="Calibri"/>
              <a:buNone/>
            </a:pPr>
            <a:r>
              <a:rPr b="1" lang="en-US" sz="2000">
                <a:solidFill>
                  <a:srgbClr val="1DB954"/>
                </a:solidFill>
                <a:latin typeface="Calibri"/>
                <a:ea typeface="Calibri"/>
                <a:cs typeface="Calibri"/>
                <a:sym typeface="Calibri"/>
              </a:rPr>
              <a:t>Recomendações</a:t>
            </a:r>
            <a:endParaRPr b="1" sz="2000">
              <a:solidFill>
                <a:srgbClr val="1DB95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6"/>
          <p:cNvSpPr/>
          <p:nvPr/>
        </p:nvSpPr>
        <p:spPr>
          <a:xfrm>
            <a:off x="731525" y="4693925"/>
            <a:ext cx="3322200" cy="1691700"/>
          </a:xfrm>
          <a:prstGeom prst="roundRect">
            <a:avLst>
              <a:gd fmla="val 5161" name="adj"/>
            </a:avLst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6"/>
          <p:cNvSpPr/>
          <p:nvPr/>
        </p:nvSpPr>
        <p:spPr>
          <a:xfrm>
            <a:off x="936769" y="5529085"/>
            <a:ext cx="3048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Pesquisa de mercado qualitativa complementar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6"/>
          <p:cNvSpPr/>
          <p:nvPr/>
        </p:nvSpPr>
        <p:spPr>
          <a:xfrm>
            <a:off x="4419600" y="4693926"/>
            <a:ext cx="3322200" cy="1691700"/>
          </a:xfrm>
          <a:prstGeom prst="roundRect">
            <a:avLst>
              <a:gd fmla="val 5161" name="adj"/>
            </a:avLst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6"/>
          <p:cNvSpPr/>
          <p:nvPr/>
        </p:nvSpPr>
        <p:spPr>
          <a:xfrm>
            <a:off x="4556760" y="5471160"/>
            <a:ext cx="3048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Entender onde as músicas são mais reproduzidas e em quais contextos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8107675" y="4693925"/>
            <a:ext cx="3322200" cy="1691700"/>
          </a:xfrm>
          <a:prstGeom prst="roundRect">
            <a:avLst>
              <a:gd fmla="val 5161" name="adj"/>
            </a:avLst>
          </a:prstGeom>
          <a:solidFill>
            <a:srgbClr val="1E22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6"/>
          <p:cNvSpPr/>
          <p:nvPr/>
        </p:nvSpPr>
        <p:spPr>
          <a:xfrm>
            <a:off x="1642100" y="4853125"/>
            <a:ext cx="1707600" cy="375000"/>
          </a:xfrm>
          <a:prstGeom prst="rect">
            <a:avLst/>
          </a:prstGeom>
          <a:solidFill>
            <a:srgbClr val="1DB95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"/>
          <p:cNvSpPr/>
          <p:nvPr/>
        </p:nvSpPr>
        <p:spPr>
          <a:xfrm>
            <a:off x="8176625" y="5360025"/>
            <a:ext cx="3322200" cy="88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Validaremos o desejo do consumidor para conseguirmos ter mais previsibilidade para atender essas expectativas e definir a priorização editorial.</a:t>
            </a:r>
            <a:endParaRPr sz="1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6"/>
          <p:cNvSpPr/>
          <p:nvPr/>
        </p:nvSpPr>
        <p:spPr>
          <a:xfrm>
            <a:off x="11430000" y="653796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13/15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6"/>
          <p:cNvSpPr/>
          <p:nvPr/>
        </p:nvSpPr>
        <p:spPr>
          <a:xfrm>
            <a:off x="457200" y="653796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1907434" y="4846309"/>
            <a:ext cx="11067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800"/>
              <a:buFont typeface="Century Schoolbook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</a:t>
            </a:r>
            <a:endParaRPr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5226900" y="4861000"/>
            <a:ext cx="1707600" cy="375000"/>
          </a:xfrm>
          <a:prstGeom prst="rect">
            <a:avLst/>
          </a:prstGeom>
          <a:solidFill>
            <a:srgbClr val="1DB95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6"/>
          <p:cNvSpPr/>
          <p:nvPr/>
        </p:nvSpPr>
        <p:spPr>
          <a:xfrm>
            <a:off x="5492234" y="4854184"/>
            <a:ext cx="11067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800"/>
              <a:buFont typeface="Century Schoolbook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que?</a:t>
            </a:r>
            <a:endParaRPr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6"/>
          <p:cNvSpPr/>
          <p:nvPr/>
        </p:nvSpPr>
        <p:spPr>
          <a:xfrm>
            <a:off x="8914975" y="4864413"/>
            <a:ext cx="1707600" cy="375000"/>
          </a:xfrm>
          <a:prstGeom prst="rect">
            <a:avLst/>
          </a:prstGeom>
          <a:solidFill>
            <a:srgbClr val="1DB95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6"/>
          <p:cNvSpPr/>
          <p:nvPr/>
        </p:nvSpPr>
        <p:spPr>
          <a:xfrm>
            <a:off x="9077025" y="4857600"/>
            <a:ext cx="14244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7"/>
              </a:buClr>
              <a:buSzPts val="1800"/>
              <a:buFont typeface="Century Schoolbook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</a:t>
            </a:r>
            <a:endParaRPr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"/>
          <p:cNvSpPr/>
          <p:nvPr/>
        </p:nvSpPr>
        <p:spPr>
          <a:xfrm>
            <a:off x="731520" y="50292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Century Schoolbook"/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 que este diagnóstico ainda não pode responder</a:t>
            </a:r>
            <a:endParaRPr i="0" sz="3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731520" y="1737360"/>
            <a:ext cx="10698480" cy="1234440"/>
          </a:xfrm>
          <a:prstGeom prst="roundRect">
            <a:avLst>
              <a:gd fmla="val 4444" name="adj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7"/>
          <p:cNvSpPr/>
          <p:nvPr/>
        </p:nvSpPr>
        <p:spPr>
          <a:xfrm>
            <a:off x="1005840" y="2057400"/>
            <a:ext cx="594360" cy="594360"/>
          </a:xfrm>
          <a:prstGeom prst="ellipse">
            <a:avLst/>
          </a:prstGeom>
          <a:solidFill>
            <a:srgbClr val="E854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7"/>
          <p:cNvSpPr/>
          <p:nvPr/>
        </p:nvSpPr>
        <p:spPr>
          <a:xfrm>
            <a:off x="1005840" y="205740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entury Schoolbook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1874520" y="1874520"/>
            <a:ext cx="9326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Causa ou consequência?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1874520" y="2286000"/>
            <a:ext cx="9326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Não sabemos se a curadoria causa o sucesso ou reage a ele</a:t>
            </a: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pois </a:t>
            </a: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os dados atuais não distinguem as duas histórias.</a:t>
            </a:r>
            <a:endParaRPr b="0" i="0" sz="15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731520" y="3200400"/>
            <a:ext cx="10698480" cy="1234440"/>
          </a:xfrm>
          <a:prstGeom prst="roundRect">
            <a:avLst>
              <a:gd fmla="val 4444" name="adj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7"/>
          <p:cNvSpPr/>
          <p:nvPr/>
        </p:nvSpPr>
        <p:spPr>
          <a:xfrm>
            <a:off x="1005840" y="3520440"/>
            <a:ext cx="594360" cy="594360"/>
          </a:xfrm>
          <a:prstGeom prst="ellipse">
            <a:avLst/>
          </a:prstGeom>
          <a:solidFill>
            <a:srgbClr val="E854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7"/>
          <p:cNvSpPr/>
          <p:nvPr/>
        </p:nvSpPr>
        <p:spPr>
          <a:xfrm>
            <a:off x="1005840" y="3520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entury Schoolbook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1874520" y="3337560"/>
            <a:ext cx="9326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Vantagem do tempo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1874520" y="3749040"/>
            <a:ext cx="9326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Os números refletem streams acumulados ao longo de anos</a:t>
            </a:r>
            <a:r>
              <a:rPr lang="en-US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portanto, </a:t>
            </a: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músicas mais antigas têm vantagem natural nessa comparação.</a:t>
            </a:r>
            <a:endParaRPr b="0" i="0" sz="15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731520" y="4663440"/>
            <a:ext cx="10698480" cy="1234440"/>
          </a:xfrm>
          <a:prstGeom prst="roundRect">
            <a:avLst>
              <a:gd fmla="val 4444" name="adj"/>
            </a:avLst>
          </a:pr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7"/>
          <p:cNvSpPr/>
          <p:nvPr/>
        </p:nvSpPr>
        <p:spPr>
          <a:xfrm>
            <a:off x="1005840" y="4983480"/>
            <a:ext cx="594360" cy="594360"/>
          </a:xfrm>
          <a:prstGeom prst="ellipse">
            <a:avLst/>
          </a:prstGeom>
          <a:solidFill>
            <a:srgbClr val="E854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7"/>
          <p:cNvSpPr/>
          <p:nvPr/>
        </p:nvSpPr>
        <p:spPr>
          <a:xfrm>
            <a:off x="1005840" y="49834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entury Schoolbook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7"/>
          <p:cNvSpPr/>
          <p:nvPr/>
        </p:nvSpPr>
        <p:spPr>
          <a:xfrm>
            <a:off x="1874520" y="4800600"/>
            <a:ext cx="9326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Diagnóstico inicial, não definitivo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7"/>
          <p:cNvSpPr/>
          <p:nvPr/>
        </p:nvSpPr>
        <p:spPr>
          <a:xfrm>
            <a:off x="1874520" y="5212080"/>
            <a:ext cx="9326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É uma base sólida para decidir com mais confiança, mas que ainda pode evoluir com mais dados.</a:t>
            </a:r>
            <a:endParaRPr b="0" i="0" sz="1500" u="none" cap="none" strike="noStrike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14/15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7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99999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417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/>
          <p:nvPr/>
        </p:nvSpPr>
        <p:spPr>
          <a:xfrm>
            <a:off x="746700" y="1820250"/>
            <a:ext cx="10698600" cy="32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Schoolbook"/>
              <a:buNone/>
            </a:pPr>
            <a:r>
              <a:rPr b="1" lang="en-US" sz="30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 curadoria editorial não é sorte. </a:t>
            </a:r>
            <a:endParaRPr b="1" sz="3000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Schoolbook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entury Schoolbook"/>
              <a:buNone/>
            </a:pPr>
            <a:r>
              <a:rPr b="1" lang="en-US" sz="3000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Ela está presente em praticamente todos os grandes sucessos da plataforma. Com a implementação dos 3 novos dados propostos, transformaremos essa forte parceria em um cálculo exato de retorno financeiro para o próximo trimestre.</a:t>
            </a:r>
            <a:endParaRPr i="0" sz="30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11430000" y="653796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15/15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457200" y="653796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B3B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3B3B3"/>
                </a:solidFill>
                <a:latin typeface="Calibri"/>
                <a:ea typeface="Calibri"/>
                <a:cs typeface="Calibri"/>
                <a:sym typeface="Calibri"/>
              </a:rPr>
              <a:t>Curadoria editorial — Spotify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